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7" r:id="rId3"/>
    <p:sldId id="27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1" autoAdjust="0"/>
    <p:restoredTop sz="94622" autoAdjust="0"/>
  </p:normalViewPr>
  <p:slideViewPr>
    <p:cSldViewPr>
      <p:cViewPr varScale="1">
        <p:scale>
          <a:sx n="87" d="100"/>
          <a:sy n="87" d="100"/>
        </p:scale>
        <p:origin x="-715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4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8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9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2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57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1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72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7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6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11069-D3D0-4929-86FD-6F91BB32256E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01D64-B1E2-4BC7-A6D4-2A9EEB387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2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Ocean Temperature Using Water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DS210 Final </a:t>
            </a:r>
            <a:r>
              <a:rPr lang="en-US" b="1" dirty="0" smtClean="0"/>
              <a:t>Project</a:t>
            </a:r>
          </a:p>
          <a:p>
            <a:pPr marL="0" indent="0">
              <a:buNone/>
            </a:pPr>
            <a:r>
              <a:rPr lang="en-US" b="1" dirty="0" smtClean="0"/>
              <a:t>John </a:t>
            </a:r>
            <a:r>
              <a:rPr lang="en-US" b="1" dirty="0"/>
              <a:t>Griffith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DS210 – </a:t>
            </a:r>
            <a:r>
              <a:rPr lang="en-US" dirty="0"/>
              <a:t>Introduction to Data </a:t>
            </a:r>
            <a:r>
              <a:rPr lang="en-US" dirty="0" smtClean="0"/>
              <a:t>Science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Instructor: </a:t>
            </a:r>
            <a:r>
              <a:rPr lang="en-US" dirty="0" err="1"/>
              <a:t>Mihir</a:t>
            </a:r>
            <a:r>
              <a:rPr lang="en-US" dirty="0"/>
              <a:t>, </a:t>
            </a:r>
            <a:r>
              <a:rPr lang="en-US" dirty="0" err="1"/>
              <a:t>Kiranmay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July </a:t>
            </a:r>
            <a:r>
              <a:rPr lang="en-US" b="1" dirty="0" smtClean="0"/>
              <a:t>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72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this presentation, I will be using the “bottles” dataset.</a:t>
            </a:r>
          </a:p>
          <a:p>
            <a:r>
              <a:rPr lang="en-US" dirty="0" smtClean="0"/>
              <a:t>This dataset contains oceanographic data measured from seawater samples collected at </a:t>
            </a:r>
            <a:r>
              <a:rPr lang="en-US" dirty="0" err="1" smtClean="0"/>
              <a:t>CalCOFI</a:t>
            </a:r>
            <a:r>
              <a:rPr lang="en-US" dirty="0" smtClean="0"/>
              <a:t> stations.</a:t>
            </a:r>
          </a:p>
          <a:p>
            <a:r>
              <a:rPr lang="en-US" dirty="0" smtClean="0"/>
              <a:t>What I want to know is can ocean temperature be predicted based on water depth? I’m curious to see if this can be predicted accurately.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4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</a:t>
            </a:r>
            <a:r>
              <a:rPr lang="en-US" dirty="0" smtClean="0"/>
              <a:t>used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  <a:endParaRPr lang="en-US" dirty="0"/>
          </a:p>
          <a:p>
            <a:r>
              <a:rPr lang="en-US" dirty="0"/>
              <a:t>Source: </a:t>
            </a:r>
            <a:r>
              <a:rPr lang="en-US" dirty="0" err="1"/>
              <a:t>CalCOFI</a:t>
            </a:r>
            <a:r>
              <a:rPr lang="en-US" dirty="0"/>
              <a:t> Bottle Database </a:t>
            </a:r>
          </a:p>
          <a:p>
            <a:r>
              <a:rPr lang="en-US" dirty="0"/>
              <a:t>Records: </a:t>
            </a:r>
            <a:r>
              <a:rPr lang="en-US" dirty="0" smtClean="0"/>
              <a:t>1000 </a:t>
            </a:r>
            <a:endParaRPr lang="en-US" dirty="0"/>
          </a:p>
          <a:p>
            <a:r>
              <a:rPr lang="en-US" dirty="0"/>
              <a:t>Features: </a:t>
            </a:r>
            <a:r>
              <a:rPr lang="en-US" dirty="0" smtClean="0"/>
              <a:t>6 rows of variables </a:t>
            </a:r>
            <a:endParaRPr lang="en-US" dirty="0"/>
          </a:p>
          <a:p>
            <a:r>
              <a:rPr lang="en-US" dirty="0"/>
              <a:t>Measurements collected from seawater samples off the California coast. </a:t>
            </a:r>
          </a:p>
          <a:p>
            <a:r>
              <a:rPr lang="en-US" dirty="0"/>
              <a:t>Used to study ocean conditions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27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understanding of this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From this review of the data, we have the following columns:</a:t>
            </a:r>
          </a:p>
          <a:p>
            <a:pPr lvl="1"/>
            <a:r>
              <a:rPr lang="en-US" b="1" dirty="0" smtClean="0"/>
              <a:t>Unnamed</a:t>
            </a:r>
          </a:p>
          <a:p>
            <a:pPr lvl="1"/>
            <a:r>
              <a:rPr lang="en-US" b="1" dirty="0" err="1" smtClean="0"/>
              <a:t>Depthm</a:t>
            </a:r>
            <a:endParaRPr lang="en-US" b="1" dirty="0" smtClean="0"/>
          </a:p>
          <a:p>
            <a:pPr lvl="1"/>
            <a:r>
              <a:rPr lang="en-US" b="1" dirty="0" err="1" smtClean="0"/>
              <a:t>T_degC</a:t>
            </a:r>
            <a:endParaRPr lang="en-US" b="1" dirty="0" smtClean="0"/>
          </a:p>
          <a:p>
            <a:pPr lvl="1"/>
            <a:r>
              <a:rPr lang="en-US" b="1" dirty="0" err="1" smtClean="0"/>
              <a:t>Salnty</a:t>
            </a:r>
            <a:endParaRPr lang="en-US" b="1" dirty="0" smtClean="0"/>
          </a:p>
          <a:p>
            <a:pPr lvl="1"/>
            <a:r>
              <a:rPr lang="en-US" b="1" dirty="0" smtClean="0"/>
              <a:t>O2ml_L</a:t>
            </a:r>
          </a:p>
          <a:p>
            <a:pPr lvl="1"/>
            <a:r>
              <a:rPr lang="en-US" b="1" dirty="0" err="1"/>
              <a:t>STheta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075" y="2971800"/>
            <a:ext cx="3733800" cy="3741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159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My understanding of this dataset continued.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dataset provided contains some areas to be researched further.</a:t>
            </a:r>
          </a:p>
          <a:p>
            <a:r>
              <a:rPr lang="en-US" dirty="0" smtClean="0"/>
              <a:t>First there is </a:t>
            </a:r>
            <a:r>
              <a:rPr lang="en-US" b="1" dirty="0" smtClean="0"/>
              <a:t>Unnamed</a:t>
            </a:r>
            <a:r>
              <a:rPr lang="en-US" dirty="0" smtClean="0"/>
              <a:t>, after verifying from the original dataset provided on </a:t>
            </a:r>
            <a:r>
              <a:rPr lang="en-US" dirty="0" err="1"/>
              <a:t>C</a:t>
            </a:r>
            <a:r>
              <a:rPr lang="en-US" dirty="0" err="1" smtClean="0"/>
              <a:t>alcofi’s</a:t>
            </a:r>
            <a:r>
              <a:rPr lang="en-US" dirty="0" smtClean="0"/>
              <a:t> website, this field is actually </a:t>
            </a:r>
            <a:r>
              <a:rPr lang="en-US" b="1" dirty="0" err="1" smtClean="0"/>
              <a:t>Btl_Cnt</a:t>
            </a:r>
            <a:r>
              <a:rPr lang="en-US" dirty="0" smtClean="0"/>
              <a:t>, or Bottle Count - All </a:t>
            </a:r>
            <a:r>
              <a:rPr lang="en-US" dirty="0" err="1" smtClean="0"/>
              <a:t>CalCOFI</a:t>
            </a:r>
            <a:r>
              <a:rPr lang="en-US" dirty="0" smtClean="0"/>
              <a:t> bottles ever sampled, consecutively numbered.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My understanding of this dataset continued.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 smtClean="0"/>
              <a:t>Depthm</a:t>
            </a:r>
            <a:r>
              <a:rPr lang="en-US" dirty="0" smtClean="0"/>
              <a:t>, this is the </a:t>
            </a:r>
            <a:r>
              <a:rPr lang="en-US" dirty="0"/>
              <a:t>Bottle depth in </a:t>
            </a:r>
            <a:r>
              <a:rPr lang="en-US" dirty="0" smtClean="0"/>
              <a:t>meters</a:t>
            </a:r>
          </a:p>
          <a:p>
            <a:r>
              <a:rPr lang="en-US" b="1" dirty="0" err="1" smtClean="0"/>
              <a:t>T_degC</a:t>
            </a:r>
            <a:r>
              <a:rPr lang="en-US" dirty="0" smtClean="0"/>
              <a:t>, this is the </a:t>
            </a:r>
            <a:r>
              <a:rPr lang="en-US" dirty="0"/>
              <a:t>Water temperature in degrees </a:t>
            </a:r>
            <a:r>
              <a:rPr lang="en-US" dirty="0" smtClean="0"/>
              <a:t>Celsius</a:t>
            </a:r>
          </a:p>
          <a:p>
            <a:r>
              <a:rPr lang="en-US" b="1" dirty="0" err="1" smtClean="0"/>
              <a:t>Salnty</a:t>
            </a:r>
            <a:r>
              <a:rPr lang="en-US" dirty="0" smtClean="0"/>
              <a:t>, this is the </a:t>
            </a:r>
            <a:r>
              <a:rPr lang="en-US" dirty="0"/>
              <a:t>Salinity (Practical Salinity Scale 1978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O2ml_L</a:t>
            </a:r>
            <a:r>
              <a:rPr lang="en-US" dirty="0" smtClean="0"/>
              <a:t>, this is the Milliliters </a:t>
            </a:r>
            <a:r>
              <a:rPr lang="en-US" dirty="0"/>
              <a:t>oxygen per liter of </a:t>
            </a:r>
            <a:r>
              <a:rPr lang="en-US" dirty="0" smtClean="0"/>
              <a:t>seawater</a:t>
            </a:r>
          </a:p>
          <a:p>
            <a:r>
              <a:rPr lang="en-US" b="1" dirty="0" err="1" smtClean="0"/>
              <a:t>Stheta</a:t>
            </a:r>
            <a:r>
              <a:rPr lang="en-US" dirty="0" smtClean="0"/>
              <a:t>, this is the </a:t>
            </a:r>
            <a:r>
              <a:rPr lang="en-US" dirty="0"/>
              <a:t>Potential Density (Sigma Theta), Kg/M³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4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Exploratory Data Analysis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is the range of data in each column, this will give me an idea of how much variance each contains and if there could be outliers.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3429000"/>
            <a:ext cx="527538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282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Exploratory Data Analysis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 am using the IQR (</a:t>
            </a:r>
            <a:r>
              <a:rPr lang="en-US" dirty="0"/>
              <a:t>Interquartile Range </a:t>
            </a:r>
            <a:r>
              <a:rPr lang="en-US" dirty="0" smtClean="0"/>
              <a:t>) method to find the outliers.</a:t>
            </a:r>
          </a:p>
          <a:p>
            <a:r>
              <a:rPr lang="en-US" dirty="0" smtClean="0"/>
              <a:t>For this example, I’m using </a:t>
            </a:r>
            <a:r>
              <a:rPr lang="en-US" dirty="0" err="1" smtClean="0"/>
              <a:t>depthm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67844"/>
            <a:ext cx="394335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706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Exploratory Data Analysis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I want to address missing values in the data.</a:t>
            </a:r>
          </a:p>
          <a:p>
            <a:r>
              <a:rPr lang="en-US" dirty="0" smtClean="0"/>
              <a:t>Using the </a:t>
            </a:r>
            <a:r>
              <a:rPr lang="en-US" dirty="0" err="1"/>
              <a:t>df.isnull</a:t>
            </a:r>
            <a:r>
              <a:rPr lang="en-US" dirty="0"/>
              <a:t>().sum</a:t>
            </a:r>
            <a:r>
              <a:rPr lang="en-US" dirty="0" smtClean="0"/>
              <a:t>() command will show how many rows in each column are blank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63851"/>
            <a:ext cx="20955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50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Exploratory Data Analysis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I’m going to use </a:t>
            </a:r>
            <a:r>
              <a:rPr lang="en-US" dirty="0" smtClean="0"/>
              <a:t>mean Imputation</a:t>
            </a:r>
            <a:r>
              <a:rPr lang="en-US" dirty="0" smtClean="0"/>
              <a:t>, this will replace </a:t>
            </a:r>
            <a:r>
              <a:rPr lang="en-US" dirty="0"/>
              <a:t>missing values with the column's mean or </a:t>
            </a:r>
            <a:r>
              <a:rPr lang="en-US" dirty="0" smtClean="0"/>
              <a:t>media.</a:t>
            </a:r>
          </a:p>
          <a:p>
            <a:r>
              <a:rPr lang="en-US" dirty="0" smtClean="0"/>
              <a:t>Here is what it looks like now, no more missing values.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13538"/>
            <a:ext cx="14192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980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Exploratory Data Analysis continued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I want to run a scatter plot to show a visual of the difference.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8792"/>
            <a:ext cx="5867400" cy="3954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75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Exploratory Data Analysis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scatterplot shows a clear inverse relationship </a:t>
            </a:r>
            <a:r>
              <a:rPr lang="en-US" dirty="0"/>
              <a:t>between depth and temperature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fun, I also created a bar chart.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76600"/>
            <a:ext cx="5532147" cy="3216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32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Refining 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 original question was “</a:t>
            </a:r>
            <a:r>
              <a:rPr lang="en-US" dirty="0"/>
              <a:t>can ocean temperature be predicted based on water depth</a:t>
            </a:r>
            <a:r>
              <a:rPr lang="en-US" dirty="0" smtClean="0"/>
              <a:t>?”</a:t>
            </a:r>
          </a:p>
          <a:p>
            <a:r>
              <a:rPr lang="en-US" dirty="0" smtClean="0"/>
              <a:t>So far that appears to be the case.</a:t>
            </a:r>
          </a:p>
          <a:p>
            <a:r>
              <a:rPr lang="en-US" dirty="0" smtClean="0"/>
              <a:t>But now I want to refine </a:t>
            </a:r>
            <a:r>
              <a:rPr lang="en-US" dirty="0"/>
              <a:t>my </a:t>
            </a:r>
            <a:r>
              <a:rPr lang="en-US" dirty="0" smtClean="0"/>
              <a:t>question </a:t>
            </a:r>
            <a:r>
              <a:rPr lang="en-US" dirty="0"/>
              <a:t>to “where does the temperature drop more rapidly</a:t>
            </a:r>
            <a:r>
              <a:rPr lang="en-US" dirty="0" smtClean="0"/>
              <a:t>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851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Refining the </a:t>
            </a:r>
            <a:r>
              <a:rPr lang="en-US" dirty="0" smtClean="0"/>
              <a:t>Question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order to answer this question, I’m going to use a line chart.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19400"/>
            <a:ext cx="5881688" cy="3896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290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Refining the Question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you can see, the line chart makes it easier to see where the slope is the steepest.</a:t>
            </a:r>
          </a:p>
          <a:p>
            <a:r>
              <a:rPr lang="en-US" dirty="0"/>
              <a:t>The temperature drops </a:t>
            </a:r>
            <a:r>
              <a:rPr lang="en-US" dirty="0" smtClean="0"/>
              <a:t>rapidly </a:t>
            </a:r>
            <a:r>
              <a:rPr lang="en-US" dirty="0"/>
              <a:t>near the surface (approximately the first 100–300 meters), then the temperature decreases </a:t>
            </a:r>
            <a:r>
              <a:rPr lang="en-US" dirty="0" smtClean="0"/>
              <a:t>more </a:t>
            </a:r>
            <a:r>
              <a:rPr lang="en-US" dirty="0"/>
              <a:t>slowly and eventually levels </a:t>
            </a:r>
            <a:r>
              <a:rPr lang="en-US" dirty="0" smtClean="0"/>
              <a:t>off.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97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this project, I used </a:t>
            </a:r>
            <a:r>
              <a:rPr lang="en-US" dirty="0"/>
              <a:t>Linear </a:t>
            </a:r>
            <a:r>
              <a:rPr lang="en-US" dirty="0" smtClean="0"/>
              <a:t>Regression to predict </a:t>
            </a:r>
            <a:r>
              <a:rPr lang="en-US" dirty="0"/>
              <a:t>water temperature based on bottle depth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It’s supervised because the dataset contains known values.</a:t>
            </a:r>
          </a:p>
          <a:p>
            <a:r>
              <a:rPr lang="en-US" dirty="0" smtClean="0"/>
              <a:t>I used the variables </a:t>
            </a:r>
            <a:r>
              <a:rPr lang="en-US" dirty="0" err="1" smtClean="0"/>
              <a:t>Depthm</a:t>
            </a:r>
            <a:r>
              <a:rPr lang="en-US" dirty="0" smtClean="0"/>
              <a:t> and </a:t>
            </a:r>
            <a:r>
              <a:rPr lang="en-US" dirty="0" err="1" smtClean="0"/>
              <a:t>T_degC</a:t>
            </a:r>
            <a:r>
              <a:rPr lang="en-US" dirty="0" smtClean="0"/>
              <a:t>.</a:t>
            </a:r>
          </a:p>
          <a:p>
            <a:r>
              <a:rPr lang="en-US" dirty="0" smtClean="0"/>
              <a:t>I used 800 of the observations to train the model, and 200 for testing.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834429"/>
            <a:ext cx="35052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1755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</a:t>
            </a:r>
            <a:r>
              <a:rPr lang="en-US" dirty="0" smtClean="0"/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Here’s the regression equation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This </a:t>
            </a:r>
            <a:r>
              <a:rPr lang="en-US" dirty="0" smtClean="0"/>
              <a:t>shows the Predicted </a:t>
            </a:r>
            <a:r>
              <a:rPr lang="en-US" dirty="0"/>
              <a:t>temperature = intercept + slope × </a:t>
            </a:r>
            <a:r>
              <a:rPr lang="en-US" dirty="0" smtClean="0"/>
              <a:t>depth.</a:t>
            </a:r>
          </a:p>
          <a:p>
            <a:r>
              <a:rPr lang="en-US" dirty="0" smtClean="0"/>
              <a:t>The slope is negative because temperatures generally fall as the depth increases.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307657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9460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I’m going to make predictions. </a:t>
            </a:r>
          </a:p>
          <a:p>
            <a:r>
              <a:rPr lang="en-US" dirty="0" smtClean="0"/>
              <a:t>You can see the difference between actual and predicted temperatures. 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3352798"/>
            <a:ext cx="4114799" cy="3113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6550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confirms that the predicted temperature decreases as depth increases.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209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&amp; 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 successfully answered my question through linear regression, and my own analysis.</a:t>
            </a:r>
          </a:p>
          <a:p>
            <a:r>
              <a:rPr lang="en-US" dirty="0" smtClean="0"/>
              <a:t>I </a:t>
            </a:r>
            <a:r>
              <a:rPr lang="en-US" dirty="0"/>
              <a:t>found that </a:t>
            </a:r>
            <a:r>
              <a:rPr lang="en-US" dirty="0" smtClean="0"/>
              <a:t>ocean </a:t>
            </a:r>
            <a:r>
              <a:rPr lang="en-US" dirty="0"/>
              <a:t>temperature can be predicted from water depth with reasonable accuracy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visualizations made these findings much easier to see.</a:t>
            </a:r>
          </a:p>
          <a:p>
            <a:r>
              <a:rPr lang="en-US" dirty="0" smtClean="0"/>
              <a:t>After refining my question, I discovered that temperature drops rapidly with the first few hundred meters.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951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&amp; 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If I had more time, I would expand and include more variables to see if I could get my predictions more accurate.</a:t>
            </a:r>
          </a:p>
          <a:p>
            <a:r>
              <a:rPr lang="en-US" dirty="0" smtClean="0"/>
              <a:t>My original </a:t>
            </a:r>
            <a:r>
              <a:rPr lang="en-US" dirty="0"/>
              <a:t>question focused on prediction, but exploratory analysis revealed </a:t>
            </a:r>
            <a:r>
              <a:rPr lang="en-US" dirty="0" smtClean="0"/>
              <a:t>another pattern which led to me </a:t>
            </a:r>
            <a:r>
              <a:rPr lang="en-US" dirty="0"/>
              <a:t>to refine my </a:t>
            </a:r>
            <a:r>
              <a:rPr lang="en-US" dirty="0" smtClean="0"/>
              <a:t>question.</a:t>
            </a:r>
          </a:p>
          <a:p>
            <a:r>
              <a:rPr lang="en-US" dirty="0" smtClean="0"/>
              <a:t>Overall, I feel I could keep refining every question in order to develop a more meaningful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24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5736</TotalTime>
  <Words>776</Words>
  <Application>Microsoft Office PowerPoint</Application>
  <PresentationFormat>On-screen Show (4:3)</PresentationFormat>
  <Paragraphs>82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Predicting Ocean Temperature Using Water Depth</vt:lpstr>
      <vt:lpstr>Dataset used</vt:lpstr>
      <vt:lpstr>Dataset used continued</vt:lpstr>
      <vt:lpstr>My understanding of this dataset</vt:lpstr>
      <vt:lpstr>My understanding of this dataset continued.</vt:lpstr>
      <vt:lpstr>My understanding of this dataset continued.</vt:lpstr>
      <vt:lpstr>Exploratory Data Analysis </vt:lpstr>
      <vt:lpstr>Exploratory Data Analysis continued</vt:lpstr>
      <vt:lpstr>Exploratory Data Analysis continued</vt:lpstr>
      <vt:lpstr>Exploratory Data Analysis continued</vt:lpstr>
      <vt:lpstr>Exploratory Data Analysis continued</vt:lpstr>
      <vt:lpstr>Exploratory Data Analysis continued</vt:lpstr>
      <vt:lpstr>Refining the Question</vt:lpstr>
      <vt:lpstr>Refining the Question continued</vt:lpstr>
      <vt:lpstr>Refining the Question continued</vt:lpstr>
      <vt:lpstr>Model Building </vt:lpstr>
      <vt:lpstr>Model Building continued</vt:lpstr>
      <vt:lpstr>Model Building continued</vt:lpstr>
      <vt:lpstr>Model Building continued</vt:lpstr>
      <vt:lpstr>Interpretation &amp; Conclusion </vt:lpstr>
      <vt:lpstr>Interpretation &amp; 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Presentation</dc:title>
  <dc:creator>18166467730</dc:creator>
  <cp:lastModifiedBy>18166467730</cp:lastModifiedBy>
  <cp:revision>32</cp:revision>
  <dcterms:created xsi:type="dcterms:W3CDTF">2026-07-22T20:54:00Z</dcterms:created>
  <dcterms:modified xsi:type="dcterms:W3CDTF">2026-07-27T20:49:01Z</dcterms:modified>
</cp:coreProperties>
</file>